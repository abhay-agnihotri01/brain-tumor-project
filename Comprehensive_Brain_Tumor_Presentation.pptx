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80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79" r:id="rId14"/>
    <p:sldId id="270" r:id="rId15"/>
    <p:sldId id="273" r:id="rId16"/>
    <p:sldId id="276" r:id="rId17"/>
    <p:sldId id="274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345648-3C72-44C8-9881-3FF621F29956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B9B073-05F0-4286-B4F7-8637666389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922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B9B073-05F0-4286-B4F7-863766638980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39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D58FC-EAB5-08CE-9E50-79FB3B2368B1}"/>
              </a:ext>
            </a:extLst>
          </p:cNvPr>
          <p:cNvSpPr txBox="1">
            <a:spLocks/>
          </p:cNvSpPr>
          <p:nvPr/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b="1">
                <a:solidFill>
                  <a:srgbClr val="2980B9"/>
                </a:solidFill>
              </a:defRPr>
            </a:pPr>
            <a:r>
              <a:rPr lang="en-US" b="1" dirty="0">
                <a:solidFill>
                  <a:srgbClr val="2980B9"/>
                </a:solidFill>
              </a:rPr>
              <a:t>Lightweight GAN-VAE Hybrid Model</a:t>
            </a:r>
          </a:p>
          <a:p>
            <a:r>
              <a:rPr lang="en-US" dirty="0"/>
              <a:t>for Real-Time Brain Tumor Detection on Edge Devices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18F3CA-650D-9A7A-2831-26473B585C11}"/>
              </a:ext>
            </a:extLst>
          </p:cNvPr>
          <p:cNvSpPr txBox="1">
            <a:spLocks/>
          </p:cNvSpPr>
          <p:nvPr/>
        </p:nvSpPr>
        <p:spPr>
          <a:xfrm>
            <a:off x="1371600" y="3994354"/>
            <a:ext cx="6400800" cy="17526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Comprehensive Research &amp; Evaluation</a:t>
            </a:r>
          </a:p>
          <a:p>
            <a:pPr marL="0" indent="0" algn="ctr"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 algn="ctr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4066622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2461C-1B85-8D06-F357-8E86D85F0AD5}"/>
              </a:ext>
            </a:extLst>
          </p:cNvPr>
          <p:cNvSpPr txBox="1">
            <a:spLocks/>
          </p:cNvSpPr>
          <p:nvPr/>
        </p:nvSpPr>
        <p:spPr>
          <a:xfrm>
            <a:off x="713232" y="457200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rPr lang="en-IN" b="1">
                <a:solidFill>
                  <a:srgbClr val="2980B9"/>
                </a:solidFill>
                <a:latin typeface="Calibri"/>
              </a:rPr>
              <a:t>Introduction to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4874D-700E-3C00-3FB9-5FB28ABD7CC9}"/>
              </a:ext>
            </a:extLst>
          </p:cNvPr>
          <p:cNvSpPr txBox="1">
            <a:spLocks/>
          </p:cNvSpPr>
          <p:nvPr/>
        </p:nvSpPr>
        <p:spPr>
          <a:xfrm>
            <a:off x="457200" y="1718187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IN" sz="2000" dirty="0">
                <a:latin typeface="Calibri"/>
              </a:rPr>
              <a:t>Brain </a:t>
            </a:r>
            <a:r>
              <a:rPr lang="en-IN" sz="2000" dirty="0" err="1">
                <a:latin typeface="Calibri"/>
              </a:rPr>
              <a:t>tumors</a:t>
            </a:r>
            <a:r>
              <a:rPr lang="en-IN" sz="2000" dirty="0">
                <a:latin typeface="Calibri"/>
              </a:rPr>
              <a:t> are deadly; early, precise diagnosis via MRI is crucial to improve prognosis.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IN" sz="2000" dirty="0">
                <a:latin typeface="Calibri"/>
              </a:rPr>
              <a:t>While CNNs are highly effective, they often demand substantial computational resources.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IN" sz="2000" dirty="0">
                <a:latin typeface="Calibri"/>
              </a:rPr>
              <a:t>This limits deployment in real-time and resource-constrained environments (e.g., small clinics, edge devices).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IN" sz="2000" dirty="0">
                <a:latin typeface="Calibri"/>
              </a:rPr>
              <a:t>Furthermore, genetic characteristics influence </a:t>
            </a:r>
            <a:r>
              <a:rPr lang="en-IN" sz="2000" dirty="0" err="1">
                <a:latin typeface="Calibri"/>
              </a:rPr>
              <a:t>tumor</a:t>
            </a:r>
            <a:r>
              <a:rPr lang="en-IN" sz="2000" dirty="0">
                <a:latin typeface="Calibri"/>
              </a:rPr>
              <a:t> susceptibility, requiring multidimensional, fast analysis.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IN" sz="2000" dirty="0">
                <a:latin typeface="Calibri"/>
              </a:rPr>
              <a:t>Objective: Introduce an efficient VAE-GAN hybrid framework optimized for low-power hardware like the Raspberry Pi.</a:t>
            </a:r>
          </a:p>
        </p:txBody>
      </p:sp>
    </p:spTree>
    <p:extLst>
      <p:ext uri="{BB962C8B-B14F-4D97-AF65-F5344CB8AC3E}">
        <p14:creationId xmlns:p14="http://schemas.microsoft.com/office/powerpoint/2010/main" val="1784025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76105-9F16-C9F6-C5B9-7A62FFB26BF4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rPr lang="en-IN" b="1">
                <a:solidFill>
                  <a:srgbClr val="2980B9"/>
                </a:solidFill>
                <a:latin typeface="Calibri"/>
              </a:rPr>
              <a:t>Related Work &amp; Motivation</a:t>
            </a:r>
            <a:endParaRPr lang="en-IN" b="1" dirty="0">
              <a:solidFill>
                <a:srgbClr val="2980B9"/>
              </a:solidFill>
              <a:latin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FD740-E6C2-7B4D-5A47-DFB76DF52CBD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US" sz="2000" b="1" dirty="0">
                <a:latin typeface="Calibri"/>
              </a:rPr>
              <a:t>Evolution: </a:t>
            </a:r>
            <a:r>
              <a:rPr lang="en-US" sz="2000" dirty="0">
                <a:latin typeface="Calibri"/>
              </a:rPr>
              <a:t>Basic image processing → CNNs → Generative Models (GANs/VAEs).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US" sz="2000" dirty="0">
                <a:latin typeface="Calibri"/>
              </a:rPr>
              <a:t>Prior generative models (e.g., GANs for synthetic data) are highly accurate but often too resource-heavy.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US" sz="2000" b="1" dirty="0">
                <a:latin typeface="Calibri"/>
              </a:rPr>
              <a:t>The Gap: </a:t>
            </a:r>
            <a:r>
              <a:rPr lang="en-US" sz="2000" dirty="0">
                <a:latin typeface="Calibri"/>
              </a:rPr>
              <a:t>Most state-of-the-art models (e.g., GAN-Transformer) require powerful GPUs.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US" sz="2000" b="1" dirty="0">
                <a:latin typeface="Calibri"/>
              </a:rPr>
              <a:t>Solution: </a:t>
            </a:r>
            <a:r>
              <a:rPr lang="en-US" sz="2000" dirty="0">
                <a:latin typeface="Calibri"/>
              </a:rPr>
              <a:t>A model that is small, fast, and deployable on edge devices, maintaining high accuracy through generative feature fusion.</a:t>
            </a:r>
          </a:p>
        </p:txBody>
      </p:sp>
    </p:spTree>
    <p:extLst>
      <p:ext uri="{BB962C8B-B14F-4D97-AF65-F5344CB8AC3E}">
        <p14:creationId xmlns:p14="http://schemas.microsoft.com/office/powerpoint/2010/main" val="2938782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AC752-1721-E874-6D88-E8169C14F26D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rPr lang="en-IN" b="1">
                <a:solidFill>
                  <a:srgbClr val="2980B9"/>
                </a:solidFill>
                <a:latin typeface="Calibri"/>
              </a:rPr>
              <a:t>Proposed Methodology: System Architecture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4301B990-D666-91F1-C808-CBB0203B533D}"/>
              </a:ext>
            </a:extLst>
          </p:cNvPr>
          <p:cNvSpPr txBox="1">
            <a:spLocks/>
          </p:cNvSpPr>
          <p:nvPr/>
        </p:nvSpPr>
        <p:spPr>
          <a:xfrm>
            <a:off x="457200" y="1708356"/>
            <a:ext cx="8229600" cy="2303206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IN" sz="2000" dirty="0">
                <a:latin typeface="Calibri"/>
              </a:rPr>
              <a:t>Hybrid Framework integrates 4 main components for efficiency and accuracy:</a:t>
            </a:r>
          </a:p>
          <a:p>
            <a:pPr marL="0" indent="0">
              <a:spcAft>
                <a:spcPts val="1000"/>
              </a:spcAft>
              <a:buFont typeface="Arial"/>
              <a:buNone/>
              <a:defRPr sz="2000">
                <a:latin typeface="Calibri"/>
              </a:defRPr>
            </a:pPr>
            <a:r>
              <a:rPr lang="en-IN" sz="2000" dirty="0">
                <a:latin typeface="Calibri"/>
              </a:rPr>
              <a:t>	  1. </a:t>
            </a:r>
            <a:r>
              <a:rPr lang="en-IN" sz="2000" b="1" dirty="0">
                <a:latin typeface="Calibri"/>
              </a:rPr>
              <a:t>VAE Encoder: </a:t>
            </a:r>
            <a:r>
              <a:rPr lang="en-IN" sz="2000" dirty="0">
                <a:latin typeface="Calibri"/>
              </a:rPr>
              <a:t>Compresses MRI images to extract stable latent features.</a:t>
            </a:r>
          </a:p>
          <a:p>
            <a:pPr marL="0" indent="0">
              <a:spcAft>
                <a:spcPts val="1000"/>
              </a:spcAft>
              <a:buFont typeface="Arial"/>
              <a:buNone/>
              <a:defRPr sz="2000">
                <a:latin typeface="Calibri"/>
              </a:defRPr>
            </a:pPr>
            <a:r>
              <a:rPr lang="en-IN" sz="2000" dirty="0">
                <a:latin typeface="Calibri"/>
              </a:rPr>
              <a:t>	  2. </a:t>
            </a:r>
            <a:r>
              <a:rPr lang="en-IN" sz="2000" b="1" dirty="0">
                <a:latin typeface="Calibri"/>
              </a:rPr>
              <a:t>GAN Generator: </a:t>
            </a:r>
            <a:r>
              <a:rPr lang="en-IN" sz="2000" dirty="0">
                <a:latin typeface="Calibri"/>
              </a:rPr>
              <a:t>Synthesizes high-fidelity </a:t>
            </a:r>
            <a:r>
              <a:rPr lang="en-IN" sz="2000" dirty="0" err="1">
                <a:latin typeface="Calibri"/>
              </a:rPr>
              <a:t>tumor</a:t>
            </a:r>
            <a:r>
              <a:rPr lang="en-IN" sz="2000" dirty="0">
                <a:latin typeface="Calibri"/>
              </a:rPr>
              <a:t> images from latent vectors.</a:t>
            </a:r>
          </a:p>
          <a:p>
            <a:pPr marL="0" indent="0">
              <a:spcAft>
                <a:spcPts val="1000"/>
              </a:spcAft>
              <a:buFont typeface="Arial"/>
              <a:buNone/>
              <a:defRPr sz="2000">
                <a:latin typeface="Calibri"/>
              </a:defRPr>
            </a:pPr>
            <a:r>
              <a:rPr lang="en-IN" sz="2000" dirty="0">
                <a:latin typeface="Calibri"/>
              </a:rPr>
              <a:t>	  3. </a:t>
            </a:r>
            <a:r>
              <a:rPr lang="en-IN" sz="2000" b="1" dirty="0">
                <a:latin typeface="Calibri"/>
              </a:rPr>
              <a:t>Discriminator: </a:t>
            </a:r>
            <a:r>
              <a:rPr lang="en-IN" sz="2000" dirty="0">
                <a:latin typeface="Calibri"/>
              </a:rPr>
              <a:t>Enforces realistic image generation via adversarial training.</a:t>
            </a:r>
          </a:p>
          <a:p>
            <a:pPr marL="0" indent="0">
              <a:spcAft>
                <a:spcPts val="1000"/>
              </a:spcAft>
              <a:buFont typeface="Arial"/>
              <a:buNone/>
              <a:defRPr sz="2000">
                <a:latin typeface="Calibri"/>
              </a:defRPr>
            </a:pPr>
            <a:r>
              <a:rPr lang="en-IN" sz="2000" dirty="0">
                <a:latin typeface="Calibri"/>
              </a:rPr>
              <a:t>	  4. </a:t>
            </a:r>
            <a:r>
              <a:rPr lang="en-IN" sz="2000" b="1" dirty="0">
                <a:latin typeface="Calibri"/>
              </a:rPr>
              <a:t>Lightweight Classifier: </a:t>
            </a:r>
            <a:r>
              <a:rPr lang="en-IN" sz="2000" dirty="0">
                <a:latin typeface="Calibri"/>
              </a:rPr>
              <a:t>A MobileNetV2-based CNN predicting </a:t>
            </a:r>
            <a:r>
              <a:rPr lang="en-IN" sz="2000" dirty="0" err="1">
                <a:latin typeface="Calibri"/>
              </a:rPr>
              <a:t>tumors</a:t>
            </a:r>
            <a:r>
              <a:rPr lang="en-IN" sz="2000" dirty="0">
                <a:latin typeface="Calibri"/>
              </a:rPr>
              <a:t> efficiently.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endParaRPr lang="en-IN" sz="2000" dirty="0">
              <a:latin typeface="Calibri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E50EBE-3CB8-2650-5343-6170FADDA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760" y="3646494"/>
            <a:ext cx="3972479" cy="28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943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64BA1-C80A-A9EE-1F8F-009F3DFAACD1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rPr lang="en-IN" b="1">
                <a:solidFill>
                  <a:srgbClr val="2980B9"/>
                </a:solidFill>
                <a:latin typeface="Calibri"/>
              </a:rPr>
              <a:t>Experimental Setup &amp; Edge Simulation</a:t>
            </a:r>
            <a:endParaRPr lang="en-IN" b="1" dirty="0">
              <a:solidFill>
                <a:srgbClr val="2980B9"/>
              </a:solidFill>
              <a:latin typeface="Calibri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B59DD79-1680-BC5B-F116-05F74A966DB3}"/>
              </a:ext>
            </a:extLst>
          </p:cNvPr>
          <p:cNvSpPr txBox="1">
            <a:spLocks/>
          </p:cNvSpPr>
          <p:nvPr/>
        </p:nvSpPr>
        <p:spPr>
          <a:xfrm>
            <a:off x="457200" y="2163096"/>
            <a:ext cx="8229600" cy="4080389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IN" sz="2000" b="1" dirty="0">
                <a:latin typeface="Calibri"/>
              </a:rPr>
              <a:t>Dataset: </a:t>
            </a:r>
            <a:r>
              <a:rPr lang="en-IN" sz="2000" dirty="0">
                <a:latin typeface="Calibri"/>
              </a:rPr>
              <a:t>Synthetic MRI data (</a:t>
            </a:r>
            <a:r>
              <a:rPr lang="en-IN" sz="2000" dirty="0" err="1">
                <a:latin typeface="Calibri"/>
              </a:rPr>
              <a:t>BraTS</a:t>
            </a:r>
            <a:r>
              <a:rPr lang="en-IN" sz="2000" dirty="0">
                <a:latin typeface="Calibri"/>
              </a:rPr>
              <a:t> emulation), normalized and resized to 64x64 pixels.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IN" sz="2000" b="1" dirty="0">
                <a:latin typeface="Calibri"/>
              </a:rPr>
              <a:t>Data Augmentation: </a:t>
            </a:r>
            <a:r>
              <a:rPr lang="en-IN" sz="2000" dirty="0">
                <a:latin typeface="Calibri"/>
              </a:rPr>
              <a:t>Applied rotation, flipping, and Gaussian noise to prevent overfitting.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IN" sz="2000" b="1" dirty="0">
                <a:latin typeface="Calibri"/>
              </a:rPr>
              <a:t>Base Environment: </a:t>
            </a:r>
            <a:r>
              <a:rPr lang="en-IN" sz="2000" dirty="0">
                <a:latin typeface="Calibri"/>
              </a:rPr>
              <a:t>Simulated edge environment on a quad-core ARM Cortex-A72 (comparable to Raspberry Pi 4), CPU-only.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IN" sz="2000" b="1" dirty="0">
                <a:latin typeface="Calibri"/>
              </a:rPr>
              <a:t>Optimization:</a:t>
            </a:r>
            <a:r>
              <a:rPr lang="en-IN" sz="2000" dirty="0">
                <a:latin typeface="Calibri"/>
              </a:rPr>
              <a:t> Models were trained conventionally on GPU, then quantized and deployed using ONNX Runtime/TensorFlow Lite for edge.</a:t>
            </a:r>
          </a:p>
        </p:txBody>
      </p:sp>
    </p:spTree>
    <p:extLst>
      <p:ext uri="{BB962C8B-B14F-4D97-AF65-F5344CB8AC3E}">
        <p14:creationId xmlns:p14="http://schemas.microsoft.com/office/powerpoint/2010/main" val="2440881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D864D-AB8F-5FF8-BAEE-575AFB7CFCBC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rPr lang="da-DK" b="1">
                <a:solidFill>
                  <a:srgbClr val="2980B9"/>
                </a:solidFill>
                <a:latin typeface="Calibri"/>
              </a:rPr>
              <a:t>Model 1: Variational Autoencoder (VAE) Overview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CF0872-166D-4420-EECC-BF089B1D0A96}"/>
              </a:ext>
            </a:extLst>
          </p:cNvPr>
          <p:cNvSpPr txBox="1">
            <a:spLocks/>
          </p:cNvSpPr>
          <p:nvPr/>
        </p:nvSpPr>
        <p:spPr>
          <a:xfrm>
            <a:off x="457200" y="1983660"/>
            <a:ext cx="8229600" cy="3768212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IN" sz="2000" b="1" dirty="0">
                <a:latin typeface="Calibri"/>
              </a:rPr>
              <a:t>Architecture: </a:t>
            </a:r>
            <a:r>
              <a:rPr lang="en-IN" sz="2000" dirty="0">
                <a:latin typeface="Calibri"/>
              </a:rPr>
              <a:t>Deep Convolutional Encoder &amp; Decoder.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IN" sz="2000" b="1" dirty="0">
                <a:latin typeface="Calibri"/>
              </a:rPr>
              <a:t>Function: </a:t>
            </a:r>
            <a:r>
              <a:rPr lang="en-IN" sz="2000" dirty="0">
                <a:latin typeface="Calibri"/>
              </a:rPr>
              <a:t>Learns a continuous latent space (mu, </a:t>
            </a:r>
            <a:r>
              <a:rPr lang="en-IN" sz="2000" dirty="0" err="1">
                <a:latin typeface="Calibri"/>
              </a:rPr>
              <a:t>log_var</a:t>
            </a:r>
            <a:r>
              <a:rPr lang="en-IN" sz="2000" dirty="0">
                <a:latin typeface="Calibri"/>
              </a:rPr>
              <a:t>) and reconstructs input images.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IN" sz="2000" b="1" dirty="0">
                <a:latin typeface="Calibri"/>
              </a:rPr>
              <a:t>Classifier: </a:t>
            </a:r>
            <a:r>
              <a:rPr lang="en-IN" sz="2000" dirty="0">
                <a:latin typeface="Calibri"/>
              </a:rPr>
              <a:t>A 3-block CNN (32-&gt;64-&gt;128 filters) with heavy 0.4 Dropout.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IN" sz="2000" b="1" dirty="0">
                <a:latin typeface="Calibri"/>
              </a:rPr>
              <a:t>Training Loss:</a:t>
            </a:r>
            <a:r>
              <a:rPr lang="en-IN" sz="2000" dirty="0">
                <a:latin typeface="Calibri"/>
              </a:rPr>
              <a:t> Reconstruction Loss (MSE) + KL-Divergence + Classification Loss (BCE).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IN" sz="2000" b="1" dirty="0">
                <a:latin typeface="Calibri"/>
              </a:rPr>
              <a:t>Purpose: </a:t>
            </a:r>
            <a:r>
              <a:rPr lang="en-IN" sz="2000" dirty="0">
                <a:latin typeface="Calibri"/>
              </a:rPr>
              <a:t>Evaluates raw feature-extraction capabilities without adversarial loss.</a:t>
            </a:r>
          </a:p>
        </p:txBody>
      </p:sp>
    </p:spTree>
    <p:extLst>
      <p:ext uri="{BB962C8B-B14F-4D97-AF65-F5344CB8AC3E}">
        <p14:creationId xmlns:p14="http://schemas.microsoft.com/office/powerpoint/2010/main" val="1589483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953B4-DCAD-202B-956C-84F33E0A2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36B7C-62A5-88CC-10DD-8C72A56FBFBC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rPr lang="en-IN" dirty="0"/>
              <a:t>Variational Autoencoder (VAE) Architecture</a:t>
            </a:r>
            <a:endParaRPr lang="da-DK" b="1" dirty="0">
              <a:solidFill>
                <a:srgbClr val="2980B9"/>
              </a:solidFill>
              <a:latin typeface="Calibri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4837CEA-42E4-FCD6-54CC-81216CBB3A69}"/>
              </a:ext>
            </a:extLst>
          </p:cNvPr>
          <p:cNvSpPr txBox="1">
            <a:spLocks/>
          </p:cNvSpPr>
          <p:nvPr/>
        </p:nvSpPr>
        <p:spPr>
          <a:xfrm>
            <a:off x="457200" y="1698523"/>
            <a:ext cx="8229600" cy="2958821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000" b="1" dirty="0">
                <a:latin typeface="Google Sans Text"/>
              </a:rPr>
              <a:t>Encoder:</a:t>
            </a:r>
            <a:r>
              <a:rPr lang="en-US" altLang="en-US" sz="2000" dirty="0">
                <a:latin typeface="Google Sans Text"/>
              </a:rPr>
              <a:t> Three convolutional layers (32 -&gt;  64 -&gt; 128 filters) with </a:t>
            </a:r>
            <a:r>
              <a:rPr lang="en-US" altLang="en-US" sz="2000" dirty="0" err="1">
                <a:latin typeface="Google Sans Text"/>
              </a:rPr>
              <a:t>ReLU</a:t>
            </a:r>
            <a:r>
              <a:rPr lang="en-US" altLang="en-US" sz="2000" dirty="0">
                <a:latin typeface="Google Sans Text"/>
              </a:rPr>
              <a:t> activations.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000" b="1" dirty="0">
                <a:latin typeface="Google Sans Text"/>
              </a:rPr>
              <a:t>Latent Space:</a:t>
            </a:r>
            <a:r>
              <a:rPr lang="en-US" altLang="en-US" sz="2000" dirty="0">
                <a:latin typeface="Google Sans Text"/>
              </a:rPr>
              <a:t> Fully connected layers outputting Mean (</a:t>
            </a:r>
            <a:r>
              <a:rPr lang="el-GR" sz="2000" dirty="0"/>
              <a:t>μ</a:t>
            </a:r>
            <a:r>
              <a:rPr lang="en-US" altLang="en-US" sz="2000" dirty="0">
                <a:latin typeface="Google Sans Text"/>
              </a:rPr>
              <a:t>) and Log-Variance (</a:t>
            </a:r>
            <a:r>
              <a:rPr lang="el-GR" sz="2000" dirty="0"/>
              <a:t>σ²</a:t>
            </a:r>
            <a:r>
              <a:rPr lang="en-US" altLang="en-US" sz="2000" dirty="0">
                <a:latin typeface="Google Sans Text"/>
              </a:rPr>
              <a:t>) vectors for the reparameterization trick.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 dirty="0"/>
              <a:t>Decoder:</a:t>
            </a:r>
            <a:r>
              <a:rPr lang="en-US" sz="2000" dirty="0"/>
              <a:t> Three Transposed Convolutional layers to reconstruct the MRI scan from the latent vector.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en-US" sz="2000" dirty="0">
              <a:latin typeface="Google Sans Tex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955BE3-E42E-C874-31B6-2379829FE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612" y="3732216"/>
            <a:ext cx="4512776" cy="305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434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C2E1D-BBBF-07D7-ABD6-D779EF1900E4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rPr lang="en-US" b="1">
                <a:solidFill>
                  <a:srgbClr val="2980B9"/>
                </a:solidFill>
                <a:latin typeface="Calibri"/>
              </a:rPr>
              <a:t>VAE Results: Training &amp; Testing Loss</a:t>
            </a:r>
            <a:endParaRPr lang="en-US" b="1" dirty="0">
              <a:solidFill>
                <a:srgbClr val="2980B9"/>
              </a:solidFill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CD1559-41ED-D857-6815-AB0172956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99" y="1193649"/>
            <a:ext cx="2864629" cy="23520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FEBD9D-3D60-20D6-8549-FB6FED238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1026" y="1193649"/>
            <a:ext cx="2802017" cy="24496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961FB5-B438-7855-2128-E6DDA6AF49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099" y="3920240"/>
            <a:ext cx="2864629" cy="24147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B148A0-FE78-267F-2925-BFE2C67DB6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1026" y="3920240"/>
            <a:ext cx="2911319" cy="24147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C6F02D-9C51-D61F-DF8F-D95D188E24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0149" y="3278484"/>
            <a:ext cx="2388237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942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354BE-F5DF-B5BE-47F5-431803BED628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rPr lang="en-IN" b="1">
                <a:solidFill>
                  <a:srgbClr val="2980B9"/>
                </a:solidFill>
                <a:latin typeface="Calibri"/>
              </a:rPr>
              <a:t>Model 2: Generative Adversarial Network (GAN)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190957-6D3A-43B7-A507-D143D06FA948}"/>
              </a:ext>
            </a:extLst>
          </p:cNvPr>
          <p:cNvSpPr txBox="1"/>
          <p:nvPr/>
        </p:nvSpPr>
        <p:spPr>
          <a:xfrm>
            <a:off x="457200" y="2365877"/>
            <a:ext cx="8528304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US" b="1" dirty="0"/>
              <a:t>Architecture:</a:t>
            </a:r>
            <a:r>
              <a:rPr lang="en-US" dirty="0"/>
              <a:t> Generator synthesizes fake images from random noise; Discriminator detects fakes.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US" b="1" dirty="0"/>
              <a:t>Classifier:</a:t>
            </a:r>
            <a:r>
              <a:rPr lang="en-US" dirty="0"/>
              <a:t> Shares the same 3-block robust CNN architecture.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US" b="1" dirty="0"/>
              <a:t>Training Loss:</a:t>
            </a:r>
            <a:r>
              <a:rPr lang="en-US" dirty="0"/>
              <a:t> Discriminator Loss (BCE Real/Fake) + Generator Adversarial Loss + Classification Loss.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US" b="1" dirty="0"/>
              <a:t>Purpose:</a:t>
            </a:r>
            <a:r>
              <a:rPr lang="en-US" dirty="0"/>
              <a:t> Tests if the sharp, realistic edges generated by a GAN improve the classifier's spatial awareness compared to a VAE.</a:t>
            </a:r>
          </a:p>
        </p:txBody>
      </p:sp>
    </p:spTree>
    <p:extLst>
      <p:ext uri="{BB962C8B-B14F-4D97-AF65-F5344CB8AC3E}">
        <p14:creationId xmlns:p14="http://schemas.microsoft.com/office/powerpoint/2010/main" val="851710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6030C82-0C26-E696-9682-816CADA1ACAA}"/>
              </a:ext>
            </a:extLst>
          </p:cNvPr>
          <p:cNvSpPr txBox="1">
            <a:spLocks/>
          </p:cNvSpPr>
          <p:nvPr/>
        </p:nvSpPr>
        <p:spPr>
          <a:xfrm>
            <a:off x="121920" y="200406"/>
            <a:ext cx="8534400" cy="1239012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rPr lang="en-IN" sz="4000" b="1" dirty="0">
                <a:solidFill>
                  <a:srgbClr val="2980B9"/>
                </a:solidFill>
                <a:latin typeface="Calibri"/>
              </a:rPr>
              <a:t>GAN Architecture (Adversarial Refinement)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A1FB85-6426-86D8-9DAC-B07FE649F44C}"/>
              </a:ext>
            </a:extLst>
          </p:cNvPr>
          <p:cNvSpPr txBox="1"/>
          <p:nvPr/>
        </p:nvSpPr>
        <p:spPr>
          <a:xfrm>
            <a:off x="432816" y="1838974"/>
            <a:ext cx="839419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Google Sans Text"/>
              </a:rPr>
              <a:t>Generator:</a:t>
            </a:r>
            <a:r>
              <a:rPr lang="en-US" altLang="en-US" sz="1800" dirty="0">
                <a:latin typeface="Google Sans Text"/>
              </a:rPr>
              <a:t> Maps random noise (latent dimension 128) to synthetic MRI images using transposed convolutions and Tanh output.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Google Sans Text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Google Sans Text"/>
              </a:rPr>
              <a:t>Discriminator:</a:t>
            </a:r>
            <a:r>
              <a:rPr lang="en-US" altLang="en-US" sz="1800" dirty="0">
                <a:latin typeface="Google Sans Text"/>
              </a:rPr>
              <a:t> A binary CNN classifier trained to distinguish between "Real" MRI slices and "Fake" (generated) </a:t>
            </a:r>
            <a:r>
              <a:rPr lang="en-US" altLang="en-US" sz="2000" dirty="0">
                <a:latin typeface="Google Sans Text"/>
              </a:rPr>
              <a:t>ones</a:t>
            </a:r>
            <a:r>
              <a:rPr lang="en-US" altLang="en-US" sz="1800" dirty="0">
                <a:latin typeface="Google Sans Text"/>
              </a:rPr>
              <a:t>.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9E75AC-CDDE-9A4A-B762-D8AE8D14E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533" y="3531477"/>
            <a:ext cx="5664757" cy="312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255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66D08-70D0-0CB4-4EF9-94872002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B4175-410F-189E-D4D8-EF186B577366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rPr lang="en-IN" dirty="0"/>
              <a:t>GAN Results: Training &amp; Testing Loss</a:t>
            </a:r>
            <a:endParaRPr lang="en-US" b="1" dirty="0">
              <a:solidFill>
                <a:srgbClr val="2980B9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631E97-D20F-6399-3DEA-96AAA5222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099" y="1417637"/>
            <a:ext cx="2864629" cy="23520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E142A9-8433-0E7C-D151-E4E006D65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5365" y="1622014"/>
            <a:ext cx="2864629" cy="19432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10B65C-93C0-AE2E-9C4E-BCD2DA80E3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099" y="3648308"/>
            <a:ext cx="3032266" cy="31801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A484AF-2494-6DD8-0D74-0B5B8F7501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5365" y="3677807"/>
            <a:ext cx="2864629" cy="318019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D4B269-1A0F-9A39-4094-96FBCE9242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9634" y="3271684"/>
            <a:ext cx="2766043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748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DEAA-4510-475E-C17F-539351A2D650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rPr lang="en-IN" b="1" dirty="0">
                <a:solidFill>
                  <a:srgbClr val="2980B9"/>
                </a:solidFill>
                <a:latin typeface="Calibri"/>
              </a:rPr>
              <a:t>Model 3: Hybrid GAN-VAE Overview(Proposed)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DC135-F901-F835-B458-21CC1CF02307}"/>
              </a:ext>
            </a:extLst>
          </p:cNvPr>
          <p:cNvSpPr txBox="1">
            <a:spLocks/>
          </p:cNvSpPr>
          <p:nvPr/>
        </p:nvSpPr>
        <p:spPr>
          <a:xfrm>
            <a:off x="526026" y="2081981"/>
            <a:ext cx="8229600" cy="3355258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US" sz="2000" b="1" dirty="0">
                <a:latin typeface="Calibri"/>
              </a:rPr>
              <a:t>Architecture: </a:t>
            </a:r>
            <a:r>
              <a:rPr lang="en-US" sz="2000" dirty="0">
                <a:latin typeface="Calibri"/>
              </a:rPr>
              <a:t>Fuses the Encoder of a VAE with the Generator/Discriminator of a GAN.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US" sz="2000" b="1" dirty="0">
                <a:latin typeface="Calibri"/>
              </a:rPr>
              <a:t>Function: </a:t>
            </a:r>
            <a:r>
              <a:rPr lang="en-US" sz="2000" dirty="0">
                <a:latin typeface="Calibri"/>
              </a:rPr>
              <a:t>VAE Encoder creates a structured latent space, GAN Generator synthesizes highly-detailed images.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US" sz="2000" b="1" dirty="0">
                <a:latin typeface="Calibri"/>
              </a:rPr>
              <a:t>Training Loss:</a:t>
            </a:r>
            <a:r>
              <a:rPr lang="en-US" sz="2000" dirty="0">
                <a:latin typeface="Calibri"/>
              </a:rPr>
              <a:t> MSE + KL Divergence + Adversarial Loss + BCE Classification Loss.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US" sz="2000" b="1" dirty="0">
                <a:latin typeface="Calibri"/>
              </a:rPr>
              <a:t>Purpose: </a:t>
            </a:r>
            <a:r>
              <a:rPr lang="en-US" sz="2000" dirty="0">
                <a:latin typeface="Calibri"/>
              </a:rPr>
              <a:t>Synergize the stable latent features of a VAE with the sharp visual generation of a GAN.</a:t>
            </a:r>
          </a:p>
        </p:txBody>
      </p:sp>
    </p:spTree>
    <p:extLst>
      <p:ext uri="{BB962C8B-B14F-4D97-AF65-F5344CB8AC3E}">
        <p14:creationId xmlns:p14="http://schemas.microsoft.com/office/powerpoint/2010/main" val="1669797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61D4F-CEBD-7B8D-B56A-E776E3D93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89C2-DC07-3C73-66B4-45E22C779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rPr lang="en-IN" b="1"/>
              <a:t>Proposed Hybrid Work Architecture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2672F2-A79F-40C2-8E83-923B31A5E4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1105" y="1978051"/>
            <a:ext cx="7841789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Integration: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Fuses the VAE Encoder with the GAN Generator/Discriminator.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Classification: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Employs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MobileNetV2-based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lightweight classifier (4.2 MB) that processes the refined generative features for real-time tumor prediction.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0B192F-173B-30F7-7CEC-1F321A47D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111" y="3588774"/>
            <a:ext cx="4332339" cy="288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678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rPr lang="en-IN" dirty="0"/>
              <a:t>Hybrid Results: Training &amp; Testing Loss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E4240B-AC66-FA8A-D9EF-33F503532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" y="1417639"/>
            <a:ext cx="2864629" cy="23520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A8D0AA-6C21-2FEE-46B6-D1E71B0BC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564" y="1422049"/>
            <a:ext cx="3545456" cy="23476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1467C1-62FE-5FBE-65AC-632BDBFF51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" y="3972115"/>
            <a:ext cx="2900644" cy="25725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D902B9-C6F8-3A24-B73F-AC14F37860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2564" y="3972115"/>
            <a:ext cx="3515511" cy="24481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44A358-4AFC-E9F2-6F5C-F8EF17BBBC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1332" y="3452038"/>
            <a:ext cx="2300748" cy="104015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rPr lang="en-IN"/>
              <a:t>Ablation Study &amp; Edge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3105201"/>
          </a:xfrm>
        </p:spPr>
        <p:txBody>
          <a:bodyPr>
            <a:normAutofit lnSpcReduction="10000"/>
          </a:bodyPr>
          <a:lstStyle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IN" dirty="0"/>
              <a:t>Quantitative Deployment Analysis:</a:t>
            </a:r>
          </a:p>
          <a:p>
            <a:pPr marL="0" indent="0">
              <a:spcAft>
                <a:spcPts val="1000"/>
              </a:spcAft>
              <a:buNone/>
              <a:defRPr sz="2000">
                <a:latin typeface="Calibri"/>
              </a:defRPr>
            </a:pPr>
            <a:r>
              <a:rPr lang="en-IN" dirty="0"/>
              <a:t>	- Final Parameters: 4.2 MB footprint, ~0.85s inference time per image on  	a Raspberry Pi 4.</a:t>
            </a:r>
          </a:p>
          <a:p>
            <a:pPr marL="0" indent="0">
              <a:spcAft>
                <a:spcPts val="1000"/>
              </a:spcAft>
              <a:buNone/>
              <a:defRPr sz="2000">
                <a:latin typeface="Calibri"/>
              </a:defRPr>
            </a:pPr>
            <a:r>
              <a:rPr lang="en-IN" dirty="0"/>
              <a:t>	- Synthetic Data Boost: +7% accuracy boost utilizing GAN synthetic 	generations.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IN" dirty="0"/>
              <a:t>Comparability: Surpasses standard VAE-CNNs (91.5%). While massive GAN-Transformers achieved 96.8%, they are strictly non-deployable on edge devices.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6AF0CA-9000-FD2F-676C-71ACCEDC33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777646"/>
              </p:ext>
            </p:extLst>
          </p:nvPr>
        </p:nvGraphicFramePr>
        <p:xfrm>
          <a:off x="727586" y="4547340"/>
          <a:ext cx="8091949" cy="20538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938764">
                  <a:extLst>
                    <a:ext uri="{9D8B030D-6E8A-4147-A177-3AD203B41FA5}">
                      <a16:colId xmlns:a16="http://schemas.microsoft.com/office/drawing/2014/main" val="330460979"/>
                    </a:ext>
                  </a:extLst>
                </a:gridCol>
                <a:gridCol w="1086515">
                  <a:extLst>
                    <a:ext uri="{9D8B030D-6E8A-4147-A177-3AD203B41FA5}">
                      <a16:colId xmlns:a16="http://schemas.microsoft.com/office/drawing/2014/main" val="3747196128"/>
                    </a:ext>
                  </a:extLst>
                </a:gridCol>
                <a:gridCol w="1677432">
                  <a:extLst>
                    <a:ext uri="{9D8B030D-6E8A-4147-A177-3AD203B41FA5}">
                      <a16:colId xmlns:a16="http://schemas.microsoft.com/office/drawing/2014/main" val="1262420761"/>
                    </a:ext>
                  </a:extLst>
                </a:gridCol>
                <a:gridCol w="2389238">
                  <a:extLst>
                    <a:ext uri="{9D8B030D-6E8A-4147-A177-3AD203B41FA5}">
                      <a16:colId xmlns:a16="http://schemas.microsoft.com/office/drawing/2014/main" val="2660558035"/>
                    </a:ext>
                  </a:extLst>
                </a:gridCol>
              </a:tblGrid>
              <a:tr h="34230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Accuracy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Model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Deployment Feasibility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131078"/>
                  </a:ext>
                </a:extLst>
              </a:tr>
              <a:tr h="34230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GAN-VAE Hybrid(Proposed)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96.12%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4.2MB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Edge-compatible(Raspberry Pi)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4261498"/>
                  </a:ext>
                </a:extLst>
              </a:tr>
              <a:tr h="34230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GAN-Transformer [Lee et al.]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96.8%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High (GPU required)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Not suitable for edge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9419379"/>
                  </a:ext>
                </a:extLst>
              </a:tr>
              <a:tr h="34230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GAN-CNN[Kim et al.]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96.2%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Limited edge feasibility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6541547"/>
                  </a:ext>
                </a:extLst>
              </a:tr>
              <a:tr h="34230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VAE-CNN[Johnson et al.]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91.5%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Moderate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Not optimised for edge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123040"/>
                  </a:ext>
                </a:extLst>
              </a:tr>
              <a:tr h="34230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GAN-only [Liu et al.]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94.2%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GPU required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79842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1B5DF-E0E3-17F6-E110-97C615511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6D38-45BA-FA8C-60C8-0778DFDAA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rPr lang="en-IN" b="1"/>
              <a:t>Comparative Analysis &amp; Ablation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2E3BA-A4F1-349F-9FEB-53F89707D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US" sz="2000" b="1"/>
              <a:t>Which is better?</a:t>
            </a:r>
            <a:r>
              <a:rPr lang="en-US" sz="2000"/>
              <a:t> The </a:t>
            </a:r>
            <a:r>
              <a:rPr lang="en-US" sz="2000" b="1"/>
              <a:t>Hybrid GAN-VAE</a:t>
            </a:r>
            <a:r>
              <a:rPr lang="en-US" sz="2000"/>
              <a:t> is the superior model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US" sz="2000" b="1"/>
              <a:t>Why?</a:t>
            </a:r>
          </a:p>
          <a:p>
            <a:pPr lvl="1">
              <a:spcAft>
                <a:spcPts val="1000"/>
              </a:spcAft>
              <a:defRPr sz="2000">
                <a:latin typeface="Calibri"/>
              </a:defRPr>
            </a:pPr>
            <a:r>
              <a:rPr lang="en-US" sz="2000" b="1"/>
              <a:t>VAE Only:</a:t>
            </a:r>
            <a:r>
              <a:rPr lang="en-US" sz="2000"/>
              <a:t> Good at capturing global structure but produces "blurry" images, which can lead to missed small tumor edges (Dice: 0.83).</a:t>
            </a:r>
          </a:p>
          <a:p>
            <a:pPr lvl="1">
              <a:spcAft>
                <a:spcPts val="1000"/>
              </a:spcAft>
              <a:defRPr sz="2000">
                <a:latin typeface="Calibri"/>
              </a:defRPr>
            </a:pPr>
            <a:r>
              <a:rPr lang="en-US" sz="2000" b="1"/>
              <a:t>GAN Only:</a:t>
            </a:r>
            <a:r>
              <a:rPr lang="en-US" sz="2000"/>
              <a:t> Excellent at sharp details but is prone to "mode collapse" and less stable feature extraction (Accuracy: 90.1%).</a:t>
            </a:r>
          </a:p>
          <a:p>
            <a:pPr lvl="1">
              <a:spcAft>
                <a:spcPts val="1000"/>
              </a:spcAft>
              <a:defRPr sz="2000">
                <a:latin typeface="Calibri"/>
              </a:defRPr>
            </a:pPr>
            <a:r>
              <a:rPr lang="en-US" sz="2000" b="1"/>
              <a:t>Hybrid Synergy:</a:t>
            </a:r>
            <a:r>
              <a:rPr lang="en-US" sz="2000"/>
              <a:t> The VAE provides a structured latent space (stable features), while the GAN's adversarial loss forces the generator to create realistic, sharp tumor boundaries.</a:t>
            </a:r>
          </a:p>
          <a:p>
            <a:pPr lvl="1">
              <a:spcAft>
                <a:spcPts val="1000"/>
              </a:spcAft>
              <a:defRPr sz="2000">
                <a:latin typeface="Calibri"/>
              </a:defRPr>
            </a:pPr>
            <a:r>
              <a:rPr lang="en-US" sz="2000" b="1"/>
              <a:t>Performance Delta:</a:t>
            </a:r>
            <a:r>
              <a:rPr lang="en-US" sz="2000"/>
              <a:t> The hybrid model achieves the highest accuracy (93.2%) and clinical-grade segmentation overlap (Dice: 0.89).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13639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rPr lang="en-IN"/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US" b="1" dirty="0"/>
              <a:t>Summary</a:t>
            </a:r>
            <a:r>
              <a:rPr lang="en-US" dirty="0"/>
              <a:t>: Successfully developed a 4.2 MB GAN-VAE hybrid capable of 93.2%+ accuracy in sub-second inference on edge devices.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US" dirty="0"/>
              <a:t>Bridges the gap between high-performance generative medical AI and point-of-care mobile diagnostics.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US" b="1" dirty="0"/>
              <a:t>Limitations: </a:t>
            </a:r>
            <a:r>
              <a:rPr lang="en-US" dirty="0"/>
              <a:t>Evaluated on synthetic data to emulate </a:t>
            </a:r>
            <a:r>
              <a:rPr lang="en-US" dirty="0" err="1"/>
              <a:t>BraTS</a:t>
            </a:r>
            <a:r>
              <a:rPr lang="en-US" dirty="0"/>
              <a:t> due to constraints; strictly binary classification scope.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lang="en-US" b="1" dirty="0"/>
              <a:t>Future Work:</a:t>
            </a:r>
          </a:p>
          <a:p>
            <a:pPr marL="0" indent="0">
              <a:spcAft>
                <a:spcPts val="1000"/>
              </a:spcAft>
              <a:buNone/>
              <a:defRPr sz="2000">
                <a:latin typeface="Calibri"/>
              </a:defRPr>
            </a:pPr>
            <a:r>
              <a:rPr lang="en-US" dirty="0"/>
              <a:t>	- Validation on real-world global clinical datasets.</a:t>
            </a:r>
          </a:p>
          <a:p>
            <a:pPr marL="0" indent="0">
              <a:spcAft>
                <a:spcPts val="1000"/>
              </a:spcAft>
              <a:buNone/>
              <a:defRPr sz="2000">
                <a:latin typeface="Calibri"/>
              </a:defRPr>
            </a:pPr>
            <a:r>
              <a:rPr lang="en-US" dirty="0"/>
              <a:t>	- Extending to multi-class tumor grading.</a:t>
            </a:r>
          </a:p>
          <a:p>
            <a:pPr marL="0" indent="0">
              <a:spcAft>
                <a:spcPts val="1000"/>
              </a:spcAft>
              <a:buNone/>
              <a:defRPr sz="2000">
                <a:latin typeface="Calibri"/>
              </a:defRPr>
            </a:pPr>
            <a:r>
              <a:rPr lang="en-US" dirty="0"/>
              <a:t>	- Integration of federated learning for privacy-preserving, institutional 	training.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792</TotalTime>
  <Words>1094</Words>
  <Application>Microsoft Office PowerPoint</Application>
  <PresentationFormat>On-screen Show (4:3)</PresentationFormat>
  <Paragraphs>103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Proposed Hybrid Work Architecture</vt:lpstr>
      <vt:lpstr>Hybrid Results: Training &amp; Testing Loss</vt:lpstr>
      <vt:lpstr>Ablation Study &amp; Edge Deployment</vt:lpstr>
      <vt:lpstr>Comparative Analysis &amp; Ablation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Abhay Agnihotri</cp:lastModifiedBy>
  <cp:revision>5</cp:revision>
  <dcterms:created xsi:type="dcterms:W3CDTF">2013-01-27T09:14:16Z</dcterms:created>
  <dcterms:modified xsi:type="dcterms:W3CDTF">2026-03-10T16:05:17Z</dcterms:modified>
  <cp:category/>
</cp:coreProperties>
</file>